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60"/>
  </p:normalViewPr>
  <p:slideViewPr>
    <p:cSldViewPr snapToGrid="0" snapToObjects="1">
      <p:cViewPr>
        <p:scale>
          <a:sx n="88" d="100"/>
          <a:sy n="88" d="100"/>
        </p:scale>
        <p:origin x="106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872" y="0"/>
            <a:ext cx="54864" cy="685800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829800" y="502920"/>
            <a:ext cx="1097280" cy="10972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29800" y="594360"/>
            <a:ext cx="1097280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25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493776"/>
            <a:ext cx="188595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75" b="1">
                <a:solidFill>
                  <a:srgbClr val="FFFFFF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1062" b="1">
                <a:solidFill>
                  <a:srgbClr val="EFB746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6687793" cy="9746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INTELLIGENT TRAFFIC PREDICTOR</a:t>
            </a:r>
            <a:endParaRPr dirty="0"/>
          </a:p>
          <a:p>
            <a:pPr>
              <a:defRPr sz="1500">
                <a:solidFill>
                  <a:srgbClr val="EFB746"/>
                </a:solidFill>
                <a:latin typeface="Aptos"/>
              </a:defRPr>
            </a:pPr>
            <a:r>
              <a:rPr dirty="0"/>
              <a:t>Machine Learning–Based Academic Performance Prediction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880360"/>
            <a:ext cx="16002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07791"/>
            <a:ext cx="16002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SECOND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228844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2420030</a:t>
            </a:r>
            <a:r>
              <a:rPr lang="en-US" dirty="0"/>
              <a:t>497</a:t>
            </a:r>
            <a:r>
              <a:rPr dirty="0"/>
              <a:t>  •   </a:t>
            </a:r>
            <a:r>
              <a:rPr lang="en-US" dirty="0"/>
              <a:t>PAVANTEJA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8"/>
            <a:ext cx="204222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Aptos"/>
              </a:defRPr>
            </a:pPr>
            <a:r>
              <a:rPr dirty="0"/>
              <a:t>2420030</a:t>
            </a:r>
            <a:r>
              <a:rPr lang="en-US" dirty="0"/>
              <a:t>122</a:t>
            </a:r>
            <a:r>
              <a:rPr dirty="0"/>
              <a:t>  •   </a:t>
            </a:r>
            <a:r>
              <a:rPr lang="en-US" dirty="0"/>
              <a:t>AKSHAY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6903720" y="3840480"/>
            <a:ext cx="4206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FB746"/>
                </a:solidFill>
              </a:defRPr>
            </a:pPr>
            <a:r>
              <a:t>Faculty Guide</a:t>
            </a:r>
          </a:p>
          <a:p>
            <a:pPr>
              <a:defRPr sz="1500">
                <a:solidFill>
                  <a:srgbClr val="FFFFFF"/>
                </a:solidFill>
              </a:defRPr>
            </a:pPr>
            <a:r>
              <a:t>________________________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t>KLH Bachupally Campus, Hyderabad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1. Project Title &amp; Team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Review 2 • Team and project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TEAM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445653"/>
              </p:ext>
            </p:extLst>
          </p:nvPr>
        </p:nvGraphicFramePr>
        <p:xfrm>
          <a:off x="685800" y="2057400"/>
          <a:ext cx="6583680" cy="2575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389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S.No.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University ID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Team Member</a:t>
                      </a:r>
                    </a:p>
                  </a:txBody>
                  <a:tcPr>
                    <a:solidFill>
                      <a:srgbClr val="1223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2420030035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Shiva Ganesh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2420030108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r>
                        <a:t>Suraj Gaur</a:t>
                      </a:r>
                    </a:p>
                  </a:txBody>
                  <a:tcPr>
                    <a:solidFill>
                      <a:srgbClr val="EBF2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3890"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50">
                          <a:solidFill>
                            <a:srgbClr val="202732"/>
                          </a:solidFill>
                          <a:latin typeface="Aptos"/>
                        </a:defRPr>
                      </a:pP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35240" y="2057400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635240" y="205740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36408" y="2203704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Project Title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2624328"/>
            <a:ext cx="3429000" cy="28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50">
                <a:solidFill>
                  <a:srgbClr val="202732"/>
                </a:solidFill>
                <a:latin typeface="Aptos"/>
              </a:defRPr>
            </a:pPr>
            <a:r>
              <a:rPr lang="en-US" dirty="0"/>
              <a:t>Intelligent Traffic Predictor</a:t>
            </a:r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7635240" y="3401568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35240" y="3401568"/>
            <a:ext cx="73152" cy="114300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36408" y="3547872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3968496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150">
                <a:solidFill>
                  <a:srgbClr val="202732"/>
                </a:solidFill>
                <a:latin typeface="Aptos"/>
              </a:defRPr>
            </a:pPr>
            <a:r>
              <a:t>Machine Learning • Educational Data Mining • Learning Analytics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4736592"/>
            <a:ext cx="379476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635240" y="4736592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836408" y="4882896"/>
            <a:ext cx="3429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Institution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5303520"/>
            <a:ext cx="3429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200">
                <a:solidFill>
                  <a:srgbClr val="202732"/>
                </a:solidFill>
                <a:latin typeface="Aptos"/>
              </a:defRPr>
            </a:pPr>
            <a:r>
              <a:t>KLH Bachupally Campus, Hyderabad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Why exam-score prediction is useful in higher education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5156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51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5349240" cy="150876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73152" cy="15087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Core Problem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78608"/>
            <a:ext cx="4983479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202732"/>
                </a:solidFill>
                <a:latin typeface="Aptos"/>
              </a:defRPr>
            </a:pPr>
            <a:r>
              <a:rPr lang="en-US" sz="1350" dirty="0"/>
              <a:t>Urban traffic congestion leads to longer travel times, fuel wastage, increased pollution, and road accidents. Existing traffic management systems react only after congestion occurs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63640" y="2011680"/>
            <a:ext cx="5257800" cy="150876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2011680"/>
            <a:ext cx="73152" cy="15087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5798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Real-World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78608"/>
            <a:ext cx="4892040" cy="740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50">
                <a:solidFill>
                  <a:srgbClr val="202732"/>
                </a:solidFill>
                <a:latin typeface="Aptos"/>
              </a:defRPr>
            </a:pPr>
            <a:r>
              <a:rPr lang="en-US" sz="1350" dirty="0"/>
              <a:t>Predicting traffic conditions in advance helps commuters choose better routes and enables authorities to manage traffic efficiently</a:t>
            </a:r>
            <a:endParaRPr dirty="0"/>
          </a:p>
        </p:txBody>
      </p:sp>
      <p:sp>
        <p:nvSpPr>
          <p:cNvPr id="17" name="Rounded Rectangle 16"/>
          <p:cNvSpPr/>
          <p:nvPr/>
        </p:nvSpPr>
        <p:spPr>
          <a:xfrm>
            <a:off x="685800" y="3794760"/>
            <a:ext cx="534924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794760"/>
            <a:ext cx="73152" cy="150876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94106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361688"/>
            <a:ext cx="4983479" cy="512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20">
                <a:solidFill>
                  <a:srgbClr val="202732"/>
                </a:solidFill>
                <a:latin typeface="Aptos"/>
              </a:defRPr>
            </a:pPr>
            <a:r>
              <a:rPr lang="en-US" sz="1320" dirty="0"/>
              <a:t>Develop an intelligent system that predicts traffic congestion using historical traffic data and environmental conditions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794760"/>
            <a:ext cx="52578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794760"/>
            <a:ext cx="73152" cy="1508760"/>
          </a:xfrm>
          <a:prstGeom prst="rect">
            <a:avLst/>
          </a:prstGeom>
          <a:solidFill>
            <a:srgbClr val="27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941064"/>
            <a:ext cx="4892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Research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4361688"/>
            <a:ext cx="4892040" cy="506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300">
                <a:solidFill>
                  <a:srgbClr val="202732"/>
                </a:solidFill>
                <a:latin typeface="Aptos"/>
              </a:defRPr>
            </a:pPr>
            <a:r>
              <a:rPr lang="en-US" sz="1300" dirty="0"/>
              <a:t>Use Machine Learning algorithms to forecast future traffic density and improve traffic management</a:t>
            </a:r>
            <a:r>
              <a:rPr dirty="0"/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3.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Specific objectives and expected outcomes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2344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234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039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Collect &amp; prepare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578608"/>
            <a:ext cx="20116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IN" sz="1050" dirty="0"/>
              <a:t>collect historical traffic data and </a:t>
            </a:r>
            <a:r>
              <a:rPr dirty="0"/>
              <a:t>attributes.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23367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3367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Identify important factors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2578608"/>
            <a:ext cx="222528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US" sz="1050" dirty="0"/>
              <a:t>Preprocess and clean traffic datasets.</a:t>
            </a:r>
            <a:endParaRPr dirty="0"/>
          </a:p>
        </p:txBody>
      </p:sp>
      <p:sp>
        <p:nvSpPr>
          <p:cNvPr id="19" name="Rounded Rectangle 18"/>
          <p:cNvSpPr/>
          <p:nvPr/>
        </p:nvSpPr>
        <p:spPr>
          <a:xfrm>
            <a:off x="7452360" y="201168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616952" y="219456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16952" y="229514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17627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Train ML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578608"/>
            <a:ext cx="1898277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IN" sz="1050" dirty="0"/>
              <a:t>Train Machine Learning models</a:t>
            </a:r>
            <a:endParaRPr dirty="0"/>
          </a:p>
        </p:txBody>
      </p:sp>
      <p:sp>
        <p:nvSpPr>
          <p:cNvPr id="24" name="Rounded Rectangle 23"/>
          <p:cNvSpPr/>
          <p:nvPr/>
        </p:nvSpPr>
        <p:spPr>
          <a:xfrm>
            <a:off x="68580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039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Evaluate performance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4361688"/>
            <a:ext cx="2079171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US" sz="1050" dirty="0"/>
              <a:t>Compare prediction accuracy using evaluation metrics.</a:t>
            </a:r>
            <a:endParaRPr dirty="0"/>
          </a:p>
        </p:txBody>
      </p:sp>
      <p:sp>
        <p:nvSpPr>
          <p:cNvPr id="29" name="Rounded Rectangle 28"/>
          <p:cNvSpPr/>
          <p:nvPr/>
        </p:nvSpPr>
        <p:spPr>
          <a:xfrm>
            <a:off x="406908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23367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23367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Generate useful predictions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4361688"/>
            <a:ext cx="2209259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US" sz="1050" dirty="0"/>
              <a:t>Predict traffic congestion in advance.</a:t>
            </a:r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7452360" y="3794760"/>
            <a:ext cx="306324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EE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616952" y="3977640"/>
            <a:ext cx="502920" cy="502920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616952" y="4078224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959352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</a:defRPr>
            </a:pPr>
            <a:r>
              <a:t>Support intervention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4361688"/>
            <a:ext cx="223811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202732"/>
                </a:solidFill>
              </a:defRPr>
            </a:pPr>
            <a:r>
              <a:rPr lang="en-US" sz="1050" dirty="0"/>
              <a:t>Provide a simple dashboard for users.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4. Literature Survey / Existing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Key research findings relevant to the proposed project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1430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1430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93392"/>
            <a:ext cx="5257800" cy="16916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1993392"/>
            <a:ext cx="73152" cy="16916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139696"/>
            <a:ext cx="13011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lang="en-IN" sz="1400" b="1" dirty="0"/>
              <a:t>Paper 1</a:t>
            </a:r>
            <a:r>
              <a:rPr dirty="0"/>
              <a:t> (2020)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560320"/>
            <a:ext cx="4892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Traffic Flow Prediction using Deep Learning (LSTM)</a:t>
            </a:r>
          </a:p>
          <a:p>
            <a:r>
              <a:rPr lang="en-US" dirty="0"/>
              <a:t>Achieved high prediction accuracy for time-series traffic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93392"/>
            <a:ext cx="5257800" cy="16916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993392"/>
            <a:ext cx="73152" cy="16916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139696"/>
            <a:ext cx="1265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lang="en-IN" sz="1400" b="1" dirty="0"/>
              <a:t>Paper 2</a:t>
            </a:r>
            <a:r>
              <a:rPr dirty="0"/>
              <a:t>(2021)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60320"/>
            <a:ext cx="4892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Machine Learning Techniques for Smart Traffic Management</a:t>
            </a:r>
          </a:p>
          <a:p>
            <a:r>
              <a:rPr lang="en-US" dirty="0"/>
              <a:t>Compared Decision Tree, Random Forest and </a:t>
            </a:r>
            <a:r>
              <a:rPr lang="en-US" dirty="0" err="1"/>
              <a:t>XGBoost</a:t>
            </a:r>
            <a:r>
              <a:rPr lang="en-US"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4005072"/>
            <a:ext cx="5257800" cy="16916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8368" y="4005072"/>
            <a:ext cx="73152" cy="16916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9536" y="4151376"/>
            <a:ext cx="1265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lang="en-IN" sz="1400" b="1" dirty="0"/>
              <a:t>Paper 3</a:t>
            </a:r>
            <a:r>
              <a:rPr dirty="0"/>
              <a:t>(2022)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" y="4572000"/>
            <a:ext cx="4892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AI-based Intelligent Transportation Systems</a:t>
            </a:r>
          </a:p>
          <a:p>
            <a:r>
              <a:rPr lang="en-US" dirty="0"/>
              <a:t>Demonstrated improved congestion prediction using real-time data.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005072"/>
            <a:ext cx="5257800" cy="16916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005072"/>
            <a:ext cx="73152" cy="16916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151376"/>
            <a:ext cx="126585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lang="en-IN" sz="1400" b="1" dirty="0"/>
              <a:t>Paper 4</a:t>
            </a:r>
            <a:r>
              <a:rPr dirty="0"/>
              <a:t>(2024)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572000"/>
            <a:ext cx="48920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Traffic Prediction using Hybrid Models</a:t>
            </a:r>
          </a:p>
          <a:p>
            <a:r>
              <a:rPr lang="en-US" dirty="0"/>
              <a:t>Combined weather and traffic information for better accuracy.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Existing System &amp; 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What current approaches do—and where the gap remains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GAP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11680"/>
            <a:ext cx="73152" cy="356616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579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Existing Approaches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2011680"/>
            <a:ext cx="534924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2011680"/>
            <a:ext cx="73152" cy="35661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157984"/>
            <a:ext cx="4983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2233D"/>
                </a:solidFill>
                <a:latin typeface="Aptos Display"/>
              </a:defRPr>
            </a:pPr>
            <a:r>
              <a:t>Limitations / Research Gaps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06440"/>
            <a:ext cx="9921240" cy="502920"/>
          </a:xfrm>
          <a:prstGeom prst="round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85729" y="5907024"/>
            <a:ext cx="8235781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/>
              <a:t>Proposed gap to address: </a:t>
            </a:r>
            <a:r>
              <a:rPr lang="en-US" sz="1300" b="1" dirty="0"/>
              <a:t>An AI-based Intelligent Traffic Predictor capable of forecasting congestion before it occurs</a:t>
            </a:r>
            <a:r>
              <a:rPr dirty="0"/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4" name="Rectangle 3">
            <a:extLst>
              <a:ext uri="{FF2B5EF4-FFF2-40B4-BE49-F238E27FC236}">
                <a16:creationId xmlns:a16="http://schemas.microsoft.com/office/drawing/2014/main" id="{D3B43C7A-FA5C-98C1-EC77-1D98DEE87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6968" y="2365724"/>
            <a:ext cx="4003766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Manual traffic monitoring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Fixed traffic signal timings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GPS-based navigation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prediction capability </a:t>
            </a:r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7412EA53-2333-435D-618C-54A35100E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368" y="2340864"/>
            <a:ext cx="487345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future traffic prediction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Doesn't adapt quickly to changing conditions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traffic delays during peak hours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Poor utilization of historical data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Proposed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Student Exam Score Predictor – project-level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058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PROPOSAL</a:t>
            </a:r>
          </a:p>
        </p:txBody>
      </p:sp>
      <p:sp>
        <p:nvSpPr>
          <p:cNvPr id="9" name="Oval 8"/>
          <p:cNvSpPr/>
          <p:nvPr/>
        </p:nvSpPr>
        <p:spPr>
          <a:xfrm>
            <a:off x="1207008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94360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5528" y="2889504"/>
            <a:ext cx="170078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rPr lang="en-IN" sz="1300" b="1" dirty="0"/>
              <a:t>Traffic Data Collection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95528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Previous scores • attendance • study time • internal marks • assignments</a:t>
            </a:r>
          </a:p>
        </p:txBody>
      </p:sp>
      <p:sp>
        <p:nvSpPr>
          <p:cNvPr id="15" name="Chevron 14"/>
          <p:cNvSpPr/>
          <p:nvPr/>
        </p:nvSpPr>
        <p:spPr>
          <a:xfrm>
            <a:off x="2368296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108960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108960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96312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96312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697480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Preprocessing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Missing values • encoding • scaling • outlier checks</a:t>
            </a:r>
          </a:p>
        </p:txBody>
      </p:sp>
      <p:sp>
        <p:nvSpPr>
          <p:cNvPr id="22" name="Chevron 21"/>
          <p:cNvSpPr/>
          <p:nvPr/>
        </p:nvSpPr>
        <p:spPr>
          <a:xfrm>
            <a:off x="4270248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010912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10912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98264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98264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9432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Feature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2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Correlation • feature importance • selection</a:t>
            </a:r>
          </a:p>
        </p:txBody>
      </p:sp>
      <p:sp>
        <p:nvSpPr>
          <p:cNvPr id="29" name="Chevron 28"/>
          <p:cNvSpPr/>
          <p:nvPr/>
        </p:nvSpPr>
        <p:spPr>
          <a:xfrm>
            <a:off x="6172200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912864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12864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0216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00216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1384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Model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01384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Linear/Random Forest/XGBoost/SVR or suitable classifier</a:t>
            </a:r>
          </a:p>
        </p:txBody>
      </p:sp>
      <p:sp>
        <p:nvSpPr>
          <p:cNvPr id="36" name="Chevron 35"/>
          <p:cNvSpPr/>
          <p:nvPr/>
        </p:nvSpPr>
        <p:spPr>
          <a:xfrm>
            <a:off x="8074152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814816" y="2148840"/>
            <a:ext cx="658368" cy="658368"/>
          </a:xfrm>
          <a:prstGeom prst="ellipse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814816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02168" y="2743200"/>
            <a:ext cx="1783080" cy="1920240"/>
          </a:xfrm>
          <a:prstGeom prst="roundRect">
            <a:avLst/>
          </a:prstGeom>
          <a:solidFill>
            <a:srgbClr val="EBF2FA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202168" y="2743200"/>
            <a:ext cx="73152" cy="192024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403336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Evaluation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03336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MAE • RMSE • R² / Accuracy • Precision • Recall • F1</a:t>
            </a:r>
          </a:p>
        </p:txBody>
      </p:sp>
      <p:sp>
        <p:nvSpPr>
          <p:cNvPr id="43" name="Chevron 42"/>
          <p:cNvSpPr/>
          <p:nvPr/>
        </p:nvSpPr>
        <p:spPr>
          <a:xfrm>
            <a:off x="9976104" y="3493008"/>
            <a:ext cx="201168" cy="347472"/>
          </a:xfrm>
          <a:prstGeom prst="chevron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716768" y="2148840"/>
            <a:ext cx="658368" cy="658368"/>
          </a:xfrm>
          <a:prstGeom prst="ellipse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716768" y="2295144"/>
            <a:ext cx="658368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104120" y="2743200"/>
            <a:ext cx="1783080" cy="1920240"/>
          </a:xfrm>
          <a:prstGeom prst="roundRect">
            <a:avLst/>
          </a:prstGeom>
          <a:solidFill>
            <a:srgbClr val="FCEFE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10104120" y="2743200"/>
            <a:ext cx="73152" cy="192024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305288" y="2889504"/>
            <a:ext cx="141731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2233D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05288" y="3310128"/>
            <a:ext cx="1417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30">
                <a:solidFill>
                  <a:srgbClr val="202732"/>
                </a:solidFill>
                <a:latin typeface="Aptos"/>
              </a:defRPr>
            </a:pPr>
            <a:r>
              <a:t>Estimated exam score + performance category + key factors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Methodology &amp; Model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A reproducible pipeline for training and evaluating the predictor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91440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91440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METHOD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12264"/>
            <a:ext cx="13447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dirty="0"/>
              <a:t>Data </a:t>
            </a:r>
            <a:r>
              <a:rPr lang="en-US" dirty="0"/>
              <a:t>collection</a:t>
            </a:r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86968" y="2532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Collect academic records and/or use a benchmark dataset such as UCI Student Performance for baseline experiments.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Data cleaning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3288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Handle missing values, duplicates, inconsistent entries and outliers; encode categorical variables.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38328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29584"/>
            <a:ext cx="15095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rPr lang="en-US" dirty="0"/>
              <a:t>Feature selection</a:t>
            </a:r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886968" y="39502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Inspect score distributions and relationships between attendance, study habits, previous grades and outcomes.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38328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38328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52958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Train/test split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95020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Use a stratified split for classification or an appropriate random split for regression; avoid data leakage.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8006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800600"/>
            <a:ext cx="73152" cy="114300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946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Model comparison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367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Start with Linear Regression, Decision Tree and Random Forest; add XGBoost/SVR if justified by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00600"/>
            <a:ext cx="521208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800600"/>
            <a:ext cx="73152" cy="1143000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494690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Validation &amp; explainability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367528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Use cross-validation and feature importance / SHAP-style explanations where appropriate.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Expected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What the project should deliver by the final review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0584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058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OUTCOMES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965960"/>
            <a:ext cx="73152" cy="1078992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Prediction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32888"/>
            <a:ext cx="4846320" cy="26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rPr lang="en-IN" sz="1080" dirty="0"/>
              <a:t>Accurate traffic prediction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263640" y="196596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965960"/>
            <a:ext cx="73152" cy="1078992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211226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Model benchmark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2532888"/>
            <a:ext cx="4846320" cy="26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rPr lang="en-IN" sz="1080" dirty="0"/>
              <a:t>Reduced travel time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291839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291839"/>
            <a:ext cx="73152" cy="1078992"/>
          </a:xfrm>
          <a:prstGeom prst="rect">
            <a:avLst/>
          </a:prstGeom>
          <a:solidFill>
            <a:srgbClr val="277D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4381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Early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858768"/>
            <a:ext cx="4846320" cy="26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rPr lang="en-IN" sz="1080" dirty="0"/>
              <a:t>Better route planning</a:t>
            </a:r>
            <a:endParaRPr dirty="0"/>
          </a:p>
        </p:txBody>
      </p:sp>
      <p:sp>
        <p:nvSpPr>
          <p:cNvPr id="21" name="Rounded Rectangle 20"/>
          <p:cNvSpPr/>
          <p:nvPr/>
        </p:nvSpPr>
        <p:spPr>
          <a:xfrm>
            <a:off x="6263640" y="3291839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291839"/>
            <a:ext cx="73152" cy="1078992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43814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Interpretability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858768"/>
            <a:ext cx="4846320" cy="261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rPr lang="en-IN" sz="1080" dirty="0"/>
              <a:t>Smart traffic signal management</a:t>
            </a:r>
            <a:endParaRPr dirty="0"/>
          </a:p>
        </p:txBody>
      </p:sp>
      <p:sp>
        <p:nvSpPr>
          <p:cNvPr id="25" name="Rounded Rectangle 24"/>
          <p:cNvSpPr/>
          <p:nvPr/>
        </p:nvSpPr>
        <p:spPr>
          <a:xfrm>
            <a:off x="68580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4617720"/>
            <a:ext cx="73152" cy="1078992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Dashboard / 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51846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Provide a simple interface for entering student inputs and viewing the result.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617720"/>
            <a:ext cx="5212080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63640" y="4617720"/>
            <a:ext cx="73152" cy="1078992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64807" y="4764024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2233D"/>
                </a:solidFill>
                <a:latin typeface="Aptos Display"/>
              </a:defRPr>
            </a:pPr>
            <a:r>
              <a:t>Actionable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7" y="5184648"/>
            <a:ext cx="4846320" cy="393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80">
                <a:solidFill>
                  <a:srgbClr val="202732"/>
                </a:solidFill>
                <a:latin typeface="Aptos"/>
              </a:defRPr>
            </a:pPr>
            <a:r>
              <a:t>Use predictions to guide mentoring—not to label or penalize students.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920240" y="5897880"/>
            <a:ext cx="8321040" cy="411480"/>
          </a:xfrm>
          <a:prstGeom prst="roundRect">
            <a:avLst/>
          </a:prstGeom>
          <a:solidFill>
            <a:srgbClr val="12233D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1920240" y="5897880"/>
            <a:ext cx="73152" cy="41148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121408" y="6044184"/>
            <a:ext cx="79552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2233D"/>
                </a:solidFill>
                <a:latin typeface="Aptos Display"/>
              </a:defRPr>
            </a:pPr>
            <a:r>
              <a:t>Success criterion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21408" y="6464808"/>
            <a:ext cx="7955279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000">
                <a:solidFill>
                  <a:srgbClr val="202732"/>
                </a:solidFill>
                <a:latin typeface="Aptos"/>
              </a:defRPr>
            </a:pPr>
            <a:r>
              <a:t>A validated model that provides useful prediction with transparent evaluation and clear limitations.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561320" y="164592"/>
            <a:ext cx="833932" cy="833932"/>
          </a:xfrm>
          <a:prstGeom prst="ellipse">
            <a:avLst/>
          </a:prstGeom>
          <a:solidFill>
            <a:srgbClr val="FCEFE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61320" y="234086"/>
            <a:ext cx="833932" cy="7607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14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155448"/>
            <a:ext cx="1433322" cy="45171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85" b="1">
                <a:solidFill>
                  <a:srgbClr val="BB0000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807" b="1">
                <a:solidFill>
                  <a:srgbClr val="12233D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02920"/>
            <a:ext cx="94183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2233D"/>
                </a:solidFill>
                <a:latin typeface="Aptos Display"/>
              </a:defRPr>
            </a:pPr>
            <a:r>
              <a:t>Research Papers to Cite in the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115568"/>
            <a:ext cx="9509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97D"/>
                </a:solidFill>
                <a:latin typeface="Aptos"/>
              </a:defRPr>
            </a:pPr>
            <a:r>
              <a:t>Recommended references for the literature survey and report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572768"/>
            <a:ext cx="1097280" cy="310896"/>
          </a:xfrm>
          <a:prstGeom prst="round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600200"/>
            <a:ext cx="10972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57400"/>
            <a:ext cx="1056132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Traffic Flow Prediction Using Deep Learning – IEEE.</a:t>
            </a:r>
          </a:p>
          <a:p>
            <a:r>
              <a:rPr lang="en-IN" dirty="0"/>
              <a:t> </a:t>
            </a:r>
          </a:p>
          <a:p>
            <a:r>
              <a:rPr lang="en-IN" dirty="0"/>
              <a:t>Intelligent Transportation Systems – Springer. </a:t>
            </a:r>
          </a:p>
          <a:p>
            <a:endParaRPr lang="en-IN" dirty="0"/>
          </a:p>
          <a:p>
            <a:r>
              <a:rPr lang="en-IN" dirty="0"/>
              <a:t>Machine Learning for Smart Cities – Elsevier. </a:t>
            </a:r>
          </a:p>
          <a:p>
            <a:endParaRPr lang="en-IN" dirty="0"/>
          </a:p>
          <a:p>
            <a:r>
              <a:rPr lang="en-IN" dirty="0"/>
              <a:t>Traffic Prediction Using LSTM Networks – IEEE Access. </a:t>
            </a:r>
          </a:p>
          <a:p>
            <a:endParaRPr lang="en-IN" dirty="0"/>
          </a:p>
          <a:p>
            <a:r>
              <a:rPr lang="en-IN" dirty="0"/>
              <a:t>Artificial Intelligence in Traffic Management – ScienceDirect.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44768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B697D"/>
                </a:solidFill>
              </a:defRPr>
            </a:pPr>
            <a:r>
              <a:t>Use the papers above as literature-survey sources; cite the original articles in the final report.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3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829800" y="502920"/>
            <a:ext cx="1097280" cy="1097280"/>
          </a:xfrm>
          <a:prstGeom prst="ellipse">
            <a:avLst/>
          </a:prstGeom>
          <a:solidFill>
            <a:srgbClr val="FFFFFF"/>
          </a:solidFill>
          <a:ln w="20320">
            <a:solidFill>
              <a:srgbClr val="BB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829800" y="594360"/>
            <a:ext cx="1097280" cy="1024127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25" b="1">
                <a:solidFill>
                  <a:srgbClr val="BB0000"/>
                </a:solidFill>
                <a:latin typeface="Aptos Display"/>
              </a:defRPr>
            </a:pPr>
            <a:r>
              <a:t>KL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93776"/>
            <a:ext cx="188595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75" b="1">
                <a:solidFill>
                  <a:srgbClr val="FFFFFF"/>
                </a:solidFill>
                <a:latin typeface="Aptos Display"/>
              </a:defRPr>
            </a:pPr>
            <a:r>
              <a:t>KLH</a:t>
            </a:r>
          </a:p>
          <a:p>
            <a:pPr algn="l">
              <a:defRPr sz="1062" b="1">
                <a:solidFill>
                  <a:srgbClr val="EFB746"/>
                </a:solidFill>
                <a:latin typeface="Aptos"/>
              </a:defRPr>
            </a:pPr>
            <a:r>
              <a:t>BACHUPALLY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05840"/>
            <a:ext cx="795527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 Display"/>
              </a:defRPr>
            </a:pPr>
            <a:r>
              <a:t>Conclusion &amp; 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20240"/>
            <a:ext cx="5029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68680" y="1920240"/>
            <a:ext cx="73152" cy="2423160"/>
          </a:xfrm>
          <a:prstGeom prst="rect">
            <a:avLst/>
          </a:prstGeom>
          <a:solidFill>
            <a:srgbClr val="BB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20665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D"/>
                </a:solidFill>
                <a:latin typeface="Aptos Display"/>
              </a:defRPr>
            </a:pPr>
            <a:r>
              <a:t>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87168"/>
            <a:ext cx="4663440" cy="105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defRPr sz="1500">
                <a:solidFill>
                  <a:srgbClr val="202732"/>
                </a:solidFill>
                <a:latin typeface="Aptos"/>
              </a:defRPr>
            </a:pPr>
            <a:r>
              <a:rPr lang="en-US" sz="1500" dirty="0"/>
              <a:t>The Intelligent Traffic Predictor uses Machine Learning techniques to predict future traffic congestion, helping commuters and traffic authorities make better decisions.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0292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920240"/>
            <a:ext cx="73152" cy="2423160"/>
          </a:xfrm>
          <a:prstGeom prst="rect">
            <a:avLst/>
          </a:prstGeom>
          <a:solidFill>
            <a:srgbClr val="EFB7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2066544"/>
            <a:ext cx="4663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233D"/>
                </a:solidFill>
                <a:latin typeface="Aptos Display"/>
              </a:defRPr>
            </a:pPr>
            <a:r>
              <a:t>Next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74920"/>
            <a:ext cx="9966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EFB746"/>
                </a:solidFill>
                <a:latin typeface="Aptos Display"/>
              </a:defRPr>
            </a:pPr>
            <a:r>
              <a:t>Thank You</a:t>
            </a:r>
          </a:p>
          <a:p>
            <a:pPr algn="ctr">
              <a:defRPr sz="1500">
                <a:solidFill>
                  <a:srgbClr val="FFFFFF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223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6588252"/>
            <a:ext cx="98755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FFFFFF"/>
                </a:solidFill>
                <a:latin typeface="Aptos"/>
              </a:defRPr>
            </a:pPr>
            <a:r>
              <a:t>KLH Bachupally • Student Exam Score Predictor • Review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09960" y="6574536"/>
            <a:ext cx="6400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FFFFFF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2FAFA34B-06BD-54D9-08AA-0CBABD5D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3368" y="2175777"/>
            <a:ext cx="3207929" cy="18466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Finalize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ML models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model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Develop a prediction dashboard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real-time traffic data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applicatio</a:t>
            </a:r>
            <a:r>
              <a:rPr lang="en-US" altLang="en-US" sz="1600" dirty="0">
                <a:latin typeface="Arial" panose="020B0604020202020204" pitchFamily="34" charset="0"/>
              </a:rPr>
              <a:t>n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985</Words>
  <Application>Microsoft Office PowerPoint</Application>
  <PresentationFormat>Widescreen</PresentationFormat>
  <Paragraphs>223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Teja</cp:lastModifiedBy>
  <cp:revision>2</cp:revision>
  <dcterms:created xsi:type="dcterms:W3CDTF">2013-01-27T09:14:16Z</dcterms:created>
  <dcterms:modified xsi:type="dcterms:W3CDTF">2026-09-30T09:40:40Z</dcterms:modified>
  <cp:category/>
</cp:coreProperties>
</file>